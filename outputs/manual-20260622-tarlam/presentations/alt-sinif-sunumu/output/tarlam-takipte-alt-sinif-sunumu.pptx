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29dce659734b85" /><Relationship Type="http://schemas.openxmlformats.org/officeDocument/2006/relationships/extended-properties" Target="/docProps/app.xml" Id="Rb6f31d8394854f96" /><Relationship Type="http://schemas.openxmlformats.org/officeDocument/2006/relationships/officeDocument" Target="/ppt/presentation.xml" Id="R70c1727b12da40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7f6d80ad2744b7c"/>
  </p:sldMasterIdLst>
  <p:notesMasterIdLst>
    <p:notesMasterId xmlns:r="http://schemas.openxmlformats.org/officeDocument/2006/relationships" r:id="R79a72d95318f43ba"/>
  </p:notesMasterIdLst>
  <p:sldIdLst>
    <p:sldId xmlns:r="http://schemas.openxmlformats.org/officeDocument/2006/relationships" id="256" r:id="R3123c3df4aa844a4"/>
    <p:sldId xmlns:r="http://schemas.openxmlformats.org/officeDocument/2006/relationships" id="257" r:id="R93a6b3ca28d7423e"/>
    <p:sldId xmlns:r="http://schemas.openxmlformats.org/officeDocument/2006/relationships" id="258" r:id="R2cf040aa17b14520"/>
    <p:sldId xmlns:r="http://schemas.openxmlformats.org/officeDocument/2006/relationships" id="259" r:id="Re675ecaabf064736"/>
    <p:sldId xmlns:r="http://schemas.openxmlformats.org/officeDocument/2006/relationships" id="260" r:id="R3ad19df59e814ce9"/>
    <p:sldId xmlns:r="http://schemas.openxmlformats.org/officeDocument/2006/relationships" id="261" r:id="R5b11343bc8764600"/>
    <p:sldId xmlns:r="http://schemas.openxmlformats.org/officeDocument/2006/relationships" id="262" r:id="R9ed2e5c7befc4bfb"/>
    <p:sldId xmlns:r="http://schemas.openxmlformats.org/officeDocument/2006/relationships" id="263" r:id="Rda9261db0b3f41a8"/>
    <p:sldId xmlns:r="http://schemas.openxmlformats.org/officeDocument/2006/relationships" id="264" r:id="R942f4323f8344ce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debcffde82243f4" /><Relationship Type="http://schemas.openxmlformats.org/officeDocument/2006/relationships/slideMaster" Target="/ppt/slideMasters/slideMaster1.xml" Id="R07f6d80ad2744b7c" /><Relationship Type="http://schemas.openxmlformats.org/officeDocument/2006/relationships/notesMaster" Target="/ppt/notesMasters/notesMaster1.xml" Id="R79a72d95318f43ba" /><Relationship Type="http://schemas.openxmlformats.org/officeDocument/2006/relationships/presProps" Target="/ppt/presProps.xml" Id="R6eae7386c21a4862" /><Relationship Type="http://schemas.openxmlformats.org/officeDocument/2006/relationships/viewProps" Target="/ppt/viewProps.xml" Id="R0d344cb8e8cf48c1" /><Relationship Type="http://schemas.openxmlformats.org/officeDocument/2006/relationships/tableStyles" Target="/ppt/tableStyles.xml" Id="Rd404fd31f600452b" /><Relationship Type="http://schemas.openxmlformats.org/officeDocument/2006/relationships/slide" Target="/ppt/slides/slide1.xml" Id="R3123c3df4aa844a4" /><Relationship Type="http://schemas.openxmlformats.org/officeDocument/2006/relationships/slide" Target="/ppt/slides/slide2.xml" Id="R93a6b3ca28d7423e" /><Relationship Type="http://schemas.openxmlformats.org/officeDocument/2006/relationships/slide" Target="/ppt/slides/slide3.xml" Id="R2cf040aa17b14520" /><Relationship Type="http://schemas.openxmlformats.org/officeDocument/2006/relationships/slide" Target="/ppt/slides/slide4.xml" Id="Re675ecaabf064736" /><Relationship Type="http://schemas.openxmlformats.org/officeDocument/2006/relationships/slide" Target="/ppt/slides/slide5.xml" Id="R3ad19df59e814ce9" /><Relationship Type="http://schemas.openxmlformats.org/officeDocument/2006/relationships/slide" Target="/ppt/slides/slide6.xml" Id="R5b11343bc8764600" /><Relationship Type="http://schemas.openxmlformats.org/officeDocument/2006/relationships/slide" Target="/ppt/slides/slide7.xml" Id="R9ed2e5c7befc4bfb" /><Relationship Type="http://schemas.openxmlformats.org/officeDocument/2006/relationships/slide" Target="/ppt/slides/slide8.xml" Id="Rda9261db0b3f41a8" /><Relationship Type="http://schemas.openxmlformats.org/officeDocument/2006/relationships/slide" Target="/ppt/slides/slide9.xml" Id="R942f4323f8344ce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a285bed08447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8887dfd9f549cd" /><Relationship Type="http://schemas.openxmlformats.org/officeDocument/2006/relationships/notesMaster" Target="/ppt/notesMasters/notesMaster1.xml" Id="R32ed344ae3e9475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17651434e7d47f1" /><Relationship Type="http://schemas.openxmlformats.org/officeDocument/2006/relationships/notesMaster" Target="/ppt/notesMasters/notesMaster1.xml" Id="R883785e534004ae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1e9a24c896945ed" /><Relationship Type="http://schemas.openxmlformats.org/officeDocument/2006/relationships/notesMaster" Target="/ppt/notesMasters/notesMaster1.xml" Id="Rf0684116dc0d434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3fdaf2a8b2b434d" /><Relationship Type="http://schemas.openxmlformats.org/officeDocument/2006/relationships/notesMaster" Target="/ppt/notesMasters/notesMaster1.xml" Id="R3ffb2b228fe54a8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54731ef256e4d87" /><Relationship Type="http://schemas.openxmlformats.org/officeDocument/2006/relationships/notesMaster" Target="/ppt/notesMasters/notesMaster1.xml" Id="R144eaa37b5a34d9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2573f057f2044c8" /><Relationship Type="http://schemas.openxmlformats.org/officeDocument/2006/relationships/notesMaster" Target="/ppt/notesMasters/notesMaster1.xml" Id="R29d0313a6ade408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bf6a0945ba14be6" /><Relationship Type="http://schemas.openxmlformats.org/officeDocument/2006/relationships/notesMaster" Target="/ppt/notesMasters/notesMaster1.xml" Id="Rbd2955046695471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70d4a606e324ae2" /><Relationship Type="http://schemas.openxmlformats.org/officeDocument/2006/relationships/notesMaster" Target="/ppt/notesMasters/notesMaster1.xml" Id="R01727d1c3bf740d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521714e39f445c6" /><Relationship Type="http://schemas.openxmlformats.org/officeDocument/2006/relationships/notesMaster" Target="/ppt/notesMasters/notesMaster1.xml" Id="Rac0ca8aad8a84dd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f2004c819042e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d18abdd87614609" /><Relationship Type="http://schemas.openxmlformats.org/officeDocument/2006/relationships/slideLayout" Target="/ppt/slideLayouts/slideLayout1.xml" Id="R2a25ce67950746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25ce67950746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d7a24eb9cd4548" /><Relationship Type="http://schemas.openxmlformats.org/officeDocument/2006/relationships/image" Target="/ppt/media/image.png" Id="Rd01db064e94f4564" /><Relationship Type="http://schemas.openxmlformats.org/officeDocument/2006/relationships/image" Target="/ppt/media/image.svg" Id="Ra9f3bdbe392e4384" /><Relationship Type="http://schemas.openxmlformats.org/officeDocument/2006/relationships/notesSlide" Target="/ppt/notesSlides/notesSlide1.xml" Id="R05afef16661f4ef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b802a2d43c4643" /><Relationship Type="http://schemas.openxmlformats.org/officeDocument/2006/relationships/image" Target="/ppt/media/image2.png" Id="R0cd3b7a0a4d745fd" /><Relationship Type="http://schemas.openxmlformats.org/officeDocument/2006/relationships/image" Target="/ppt/media/image2.svg" Id="R1ef85078b1c04f70" /><Relationship Type="http://schemas.openxmlformats.org/officeDocument/2006/relationships/image" Target="/ppt/media/image3.png" Id="R942243820ba045f9" /><Relationship Type="http://schemas.openxmlformats.org/officeDocument/2006/relationships/image" Target="/ppt/media/image3.svg" Id="R4d1986dbef8948b9" /><Relationship Type="http://schemas.openxmlformats.org/officeDocument/2006/relationships/notesSlide" Target="/ppt/notesSlides/notesSlide2.xml" Id="R1bc50f47286b42d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8d4a84ed704775" /><Relationship Type="http://schemas.openxmlformats.org/officeDocument/2006/relationships/notesSlide" Target="/ppt/notesSlides/notesSlide3.xml" Id="R8cd5b87d65dc46e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da3250cd9549e5" /><Relationship Type="http://schemas.openxmlformats.org/officeDocument/2006/relationships/notesSlide" Target="/ppt/notesSlides/notesSlide4.xml" Id="Rd155bee5562b4ec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3c6e47c27b4372" /><Relationship Type="http://schemas.openxmlformats.org/officeDocument/2006/relationships/image" Target="/ppt/media/image4.png" Id="R7a2e4dc94db14e17" /><Relationship Type="http://schemas.openxmlformats.org/officeDocument/2006/relationships/image" Target="/ppt/media/image4.svg" Id="Rf15388573faa4cfe" /><Relationship Type="http://schemas.openxmlformats.org/officeDocument/2006/relationships/notesSlide" Target="/ppt/notesSlides/notesSlide5.xml" Id="R27ef0cb9271c453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18803c0a10418c" /><Relationship Type="http://schemas.openxmlformats.org/officeDocument/2006/relationships/notesSlide" Target="/ppt/notesSlides/notesSlide6.xml" Id="R3841456f0f934ce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8ce4fd0f834456" /><Relationship Type="http://schemas.openxmlformats.org/officeDocument/2006/relationships/image" Target="/ppt/media/image5.png" Id="R13df42816ebc482b" /><Relationship Type="http://schemas.openxmlformats.org/officeDocument/2006/relationships/image" Target="/ppt/media/image5.svg" Id="Rc1f84d0831884cad" /><Relationship Type="http://schemas.openxmlformats.org/officeDocument/2006/relationships/notesSlide" Target="/ppt/notesSlides/notesSlide7.xml" Id="R6322616878eb443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0089489e064dda" /><Relationship Type="http://schemas.openxmlformats.org/officeDocument/2006/relationships/image" Target="/ppt/media/image6.png" Id="Rf05b31eafa6e473f" /><Relationship Type="http://schemas.openxmlformats.org/officeDocument/2006/relationships/image" Target="/ppt/media/image6.svg" Id="R7ee7c83f16124f02" /><Relationship Type="http://schemas.openxmlformats.org/officeDocument/2006/relationships/notesSlide" Target="/ppt/notesSlides/notesSlide8.xml" Id="Rad920901f8204fe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2b10318f164461" /><Relationship Type="http://schemas.openxmlformats.org/officeDocument/2006/relationships/notesSlide" Target="/ppt/notesSlides/notesSlide9.xml" Id="Rcb42485aca92432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DCABB3-0A17-4114-93C4-06DFF9A09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755CF5-D468-4A43-BFFA-DC3C805D6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C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B01B16-102C-4966-AEE8-1AAA05C99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429250"/>
            <a:ext cx="7048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91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C3F451-9F07-4B5D-ABA6-19228A261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429250"/>
            <a:ext cx="7048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7E19C6-32C2-4B0E-A751-E75AE2808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429250"/>
            <a:ext cx="7048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91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B36422-0EFA-47AA-A241-967B26B5F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429250"/>
            <a:ext cx="7048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4B8A57-4B37-4A78-A66A-38306A26C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429250"/>
            <a:ext cx="7048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91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1A065F-38D3-4003-9E6B-181CCE37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5429250"/>
            <a:ext cx="7048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030687-EA62-4353-A8A8-E6A8D38BC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429250"/>
            <a:ext cx="7048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91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210595-D9C8-4EA6-B2DC-01C0E0D89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429250"/>
            <a:ext cx="7048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A71B48-3CAB-449A-AA34-217E4E20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429250"/>
            <a:ext cx="7048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91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BD3E7A-598A-43BF-8EEB-23CD0693C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429250"/>
            <a:ext cx="7048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C66BEF-D4CF-4E52-B919-B487BD340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5429250"/>
            <a:ext cx="7048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91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1db064e94f4564">
            <a:extLst>
              <a:ext uri="{96DAC541-7B7A-43D3-8B79-37D633B846F1}">
                <asvg:svgBlip xmlns:asvg="http://schemas.microsoft.com/office/drawing/2016/SVG/main" r:embed="Ra9f3bdbe392e438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00100" y="7048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6B6DE9-10FD-43ED-9CAF-A1BFE7BF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723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Tarlam Takipte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1431D8-B911-4839-9BCD-018A4F939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723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DDEEDB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DDEEDB"/>
                </a:solidFill>
                <a:latin typeface="Aptos"/>
                <a:ea typeface="Aptos"/>
                <a:cs typeface="Aptos"/>
              </a:rPr>
              <a:t>Bir web uygulaması, çiftçinin tarla defterini bilgisayara taşır.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2D7510-A4B2-4393-824F-BBEA5B2E2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528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6E5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43CAD9-ACBC-4ACD-9E45-4B46F0232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19475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02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022"/>
                </a:solidFill>
                <a:latin typeface="Aptos"/>
                <a:ea typeface="Aptos"/>
                <a:cs typeface="Aptos"/>
              </a:rPr>
              <a:t>Alt sınıflar için kod anlatımı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D1768F-247C-445A-AAE8-E2170B64C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81450"/>
            <a:ext cx="7048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7F5E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7F5EC"/>
                </a:solidFill>
                <a:latin typeface="Aptos"/>
                <a:ea typeface="Aptos"/>
                <a:cs typeface="Aptos"/>
              </a:rPr>
              <a:t>Bugün ekranda görünen butonların arkasında hangi kodların çalıştığını adım adım göreceğiz.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B82DF7-70BA-49AC-AA3E-EE9D0CC44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36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36A"/>
                </a:solidFill>
                <a:latin typeface="Aptos"/>
                <a:ea typeface="Aptos"/>
                <a:cs typeface="Aptos"/>
              </a:rPr>
              <a:t>Hazırlanan sunum: Tarlam Takipte PHP projesi</a:t>
            </a:r>
          </a:p>
        </p:txBody>
      </p:sp>
    </p:spTree>
    <p:extLst>
      <p:ext uri="{BB962C8B-B14F-4D97-AF65-F5344CB8AC3E}">
        <p14:creationId xmlns:p14="http://schemas.microsoft.com/office/powerpoint/2010/main" val="127569577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2A39B8-A458-4C07-B96B-710A88B85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84B661-6CD1-4B1E-992A-F604687F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-marker">
            <a:extLst xmlns:a="http://schemas.openxmlformats.org/drawingml/2006/main">
              <a:ext uri="{FF2B5EF4-FFF2-40B4-BE49-F238E27FC236}">
                <a16:creationId xmlns:a16="http://schemas.microsoft.com/office/drawing/2014/main" id="{AEA6B746-C6F7-4572-9270-8D9397957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7592C29C-0819-4EEB-9AFC-0BF6F2FD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7D4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7D4B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A0079A-8686-45D6-9E95-326239570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7810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3324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73324"/>
                </a:solidFill>
                <a:latin typeface="Aptos Display"/>
                <a:ea typeface="Aptos Display"/>
                <a:cs typeface="Aptos Display"/>
              </a:rPr>
              <a:t>Dağınık bilgiler tek bir dijital defterde toplanıyor.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A46F9E-0433-473E-9272-1596F61E2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36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36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d3b7a0a4d745fd">
            <a:extLst>
              <a:ext uri="{96DAC541-7B7A-43D3-8B79-37D633B846F1}">
                <asvg:svgBlip xmlns:asvg="http://schemas.microsoft.com/office/drawing/2016/SVG/main" r:embed="R1ef85078b1c04f7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667750" y="819150"/>
            <a:ext cx="857250" cy="857250"/>
          </a:xfrm>
          <a:prstGeom xmlns:a="http://schemas.openxmlformats.org/drawingml/2006/main" prst="rect">
            <a:avLst/>
          </a:prstGeom>
        </p:spPr>
      </p:pic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2243820ba045f9">
            <a:extLst>
              <a:ext uri="{96DAC541-7B7A-43D3-8B79-37D633B846F1}">
                <asvg:svgBlip xmlns:asvg="http://schemas.microsoft.com/office/drawing/2016/SVG/main" r:embed="R4d1986dbef8948b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867900" y="857250"/>
            <a:ext cx="838200" cy="8382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BF52B2-0DAD-4BAB-92B3-0EFFAA275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3143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4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BE7E7C-C41C-4B78-BE05-863C47D55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43150"/>
            <a:ext cx="280035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32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3324"/>
                </a:solidFill>
                <a:latin typeface="Aptos"/>
                <a:ea typeface="Aptos"/>
                <a:cs typeface="Aptos"/>
              </a:rPr>
              <a:t>Çiftçi; tarla adı, konum, alan ve ürün bilgisini kaydeder.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E18D1A-6105-4813-837F-80E079BE9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90750"/>
            <a:ext cx="3143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DDEEDB"/>
          </a:solidFill>
          <a:ln xmlns:a="http://schemas.openxmlformats.org/drawingml/2006/main" w="9525">
            <a:solidFill>
              <a:srgbClr val="C8D4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D352F0-03A5-4828-A29C-C6DBA1983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43150"/>
            <a:ext cx="280035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32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3324"/>
                </a:solidFill>
                <a:latin typeface="Aptos"/>
                <a:ea typeface="Aptos"/>
                <a:cs typeface="Aptos"/>
              </a:rPr>
              <a:t>Detaylı kayıtta gübre, mazot, verim ve satış fiyatı da eklenir.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5A50EE-2845-4542-BE91-3C4AABCD3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90750"/>
            <a:ext cx="3143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6E5CF"/>
          </a:solidFill>
          <a:ln xmlns:a="http://schemas.openxmlformats.org/drawingml/2006/main" w="9525">
            <a:solidFill>
              <a:srgbClr val="C8D4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9163AC-CF64-4983-966B-4D3F370B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43150"/>
            <a:ext cx="280035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32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3324"/>
                </a:solidFill>
                <a:latin typeface="Aptos"/>
                <a:ea typeface="Aptos"/>
                <a:cs typeface="Aptos"/>
              </a:rPr>
              <a:t>Uygulama gelir, gider ve kâr/zararı otomatik hesaplar.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C1BFDA-B64A-4856-B02E-E73F34B7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33875"/>
            <a:ext cx="9525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68F3EC-AA90-4FD2-8D5D-FC6FB117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00600"/>
            <a:ext cx="933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332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3324"/>
                </a:solidFill>
                <a:latin typeface="Aptos"/>
                <a:ea typeface="Aptos"/>
                <a:cs typeface="Aptos"/>
              </a:rPr>
              <a:t>Sunarken: “Kâğıt defterde aramak zor olabilir; bilgisayar bize hem saklama hem hesaplama konusunda yardım eder.”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01C145-047A-4E64-9D26-45B64921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36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36A"/>
                </a:solidFill>
                <a:latin typeface="Aptos"/>
                <a:ea typeface="Aptos"/>
                <a:cs typeface="Aptos"/>
              </a:rPr>
              <a:t>Kaynak: Proje kodları - Tarlam Takipte</a:t>
            </a:r>
          </a:p>
        </p:txBody>
      </p:sp>
    </p:spTree>
    <p:extLst>
      <p:ext uri="{BB962C8B-B14F-4D97-AF65-F5344CB8AC3E}">
        <p14:creationId xmlns:p14="http://schemas.microsoft.com/office/powerpoint/2010/main" val="88739855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B32A0A-5B05-4600-AB01-1F2D3D868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4DFD8A-D872-46B6-AEA9-E124F53D8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3-marker">
            <a:extLst xmlns:a="http://schemas.openxmlformats.org/drawingml/2006/main">
              <a:ext uri="{FF2B5EF4-FFF2-40B4-BE49-F238E27FC236}">
                <a16:creationId xmlns:a16="http://schemas.microsoft.com/office/drawing/2014/main" id="{A8DE5C72-7B53-472C-81DD-F24EE552B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D6CEA789-14DA-4D7F-8BC1-2C734347C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7D4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7D4B"/>
                </a:solidFill>
                <a:latin typeface="Aptos"/>
                <a:ea typeface="Aptos"/>
                <a:cs typeface="Aptos"/>
              </a:rPr>
              <a:t>KULLANICI YOLU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0AACBE-C52B-4A21-B1D9-9D5215BAE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7810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3324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73324"/>
                </a:solidFill>
                <a:latin typeface="Aptos Display"/>
                <a:ea typeface="Aptos Display"/>
                <a:cs typeface="Aptos Display"/>
              </a:rPr>
              <a:t>Uygulamada işlem bir rota gibi ilerliyor.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E96409-1B27-4F5A-9B05-66DAEA57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36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36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DD7212-E5A0-4048-AE68-2C99F0E81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1619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7D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1DE55D-7D3F-4A0D-B99F-6B09C1684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03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86C04F-55BD-4A7E-AD16-39D2AEAD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5750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0095CD-D627-447F-A0C4-23DF8B326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14700"/>
            <a:ext cx="120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3324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3324"/>
                </a:solidFill>
                <a:latin typeface="Aptos"/>
                <a:ea typeface="Aptos"/>
                <a:cs typeface="Aptos"/>
              </a:rPr>
              <a:t>Giriş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F88D36-F11A-4822-825C-6EA736B66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95700"/>
            <a:ext cx="1276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36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36A"/>
                </a:solidFill>
                <a:latin typeface="Aptos"/>
                <a:ea typeface="Aptos"/>
                <a:cs typeface="Aptos"/>
              </a:rPr>
              <a:t>E-posta ve şifre kontrol edilir.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383D01-BE0A-4637-9E05-4BF58B15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628900"/>
            <a:ext cx="1619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F9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C8A8C9-235A-46B4-994E-5364CB1B3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003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C6DDD5-673C-4967-B847-E012D6B72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5750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EFCB90-830C-4D4C-BFD0-194F4EBD7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14700"/>
            <a:ext cx="120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3324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3324"/>
                </a:solidFill>
                <a:latin typeface="Aptos"/>
                <a:ea typeface="Aptos"/>
                <a:cs typeface="Aptos"/>
              </a:rPr>
              <a:t>Ana sayfa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9DEE7B-6C85-4786-B36D-7A50F5A26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695700"/>
            <a:ext cx="1276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36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36A"/>
                </a:solidFill>
                <a:latin typeface="Aptos"/>
                <a:ea typeface="Aptos"/>
                <a:cs typeface="Aptos"/>
              </a:rPr>
              <a:t>Kayıt türü seçilir.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250384-E336-4852-BA26-BF661E2EC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28900"/>
            <a:ext cx="1619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852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A6BF91-FF9E-4B7A-B47C-42C54AED4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8003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85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44162C-58A7-454D-A007-8281D87B6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85750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682E68-6F0E-49DD-A3B8-D23D9531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14700"/>
            <a:ext cx="120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3324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3324"/>
                </a:solidFill>
                <a:latin typeface="Aptos"/>
                <a:ea typeface="Aptos"/>
                <a:cs typeface="Aptos"/>
              </a:rPr>
              <a:t>Kayıt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1DC27A-CB18-4F83-BBDF-33F22D80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695700"/>
            <a:ext cx="1276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36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36A"/>
                </a:solidFill>
                <a:latin typeface="Aptos"/>
                <a:ea typeface="Aptos"/>
                <a:cs typeface="Aptos"/>
              </a:rPr>
              <a:t>Formdaki bilgiler gönderilir.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55103E-BB8C-43E6-A4F3-4CA12A3EB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628900"/>
            <a:ext cx="1619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7D4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C81D5F-4624-48B6-BA01-35B138D6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8003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D19632-B16E-415D-8F55-1C7328E6E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85750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46622C-F8D8-4D2D-A49A-3482158C7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314700"/>
            <a:ext cx="120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3324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3324"/>
                </a:solidFill>
                <a:latin typeface="Aptos"/>
                <a:ea typeface="Aptos"/>
                <a:cs typeface="Aptos"/>
              </a:rPr>
              <a:t>Liste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44E282-2979-4346-A327-9BDB037A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95700"/>
            <a:ext cx="1276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36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36A"/>
                </a:solidFill>
                <a:latin typeface="Aptos"/>
                <a:ea typeface="Aptos"/>
                <a:cs typeface="Aptos"/>
              </a:rPr>
              <a:t>Tarlalar tabloya gelir.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4BC749-3A78-43F8-A9B8-5BA332EBA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628900"/>
            <a:ext cx="1619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64B4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032246-859D-4B01-9027-082EEA6EF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8003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4B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E491AF-7936-4695-9B2D-6DC58CB5F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85750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AC2AB2-16AA-4D71-BB16-5F5CDE649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314700"/>
            <a:ext cx="120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3324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3324"/>
                </a:solidFill>
                <a:latin typeface="Aptos"/>
                <a:ea typeface="Aptos"/>
                <a:cs typeface="Aptos"/>
              </a:rPr>
              <a:t>Rapor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5A9022-73C0-4FEA-825A-C500A255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695700"/>
            <a:ext cx="1276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36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36A"/>
                </a:solidFill>
                <a:latin typeface="Aptos"/>
                <a:ea typeface="Aptos"/>
                <a:cs typeface="Aptos"/>
              </a:rPr>
              <a:t>PDF çıktısı alınır.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C0789F-84D1-464D-95FF-E8E94893A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4099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04C880-6CA0-42CA-AAD4-785597C32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4099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523FEB9-14F7-47B8-A675-65B30F913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099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14ACD7A-B3F2-4CFD-A5A6-28D1424CD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4099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5B27A71-36E3-42E3-A3ED-EA373A988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32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3324"/>
                </a:solidFill>
                <a:latin typeface="Aptos"/>
                <a:ea typeface="Aptos"/>
                <a:cs typeface="Aptos"/>
              </a:rPr>
              <a:t>Kodda bu yol `index.php` içindeki router tanımlarıyla başlar: `/login`, `/anasayfa`, `/kayit`, `/tarlalar`, `/tarlalar/pdf`.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F2AFD8-2C63-454B-83C4-3A6EDAC15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36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36A"/>
                </a:solidFill>
                <a:latin typeface="Aptos"/>
                <a:ea typeface="Aptos"/>
                <a:cs typeface="Aptos"/>
              </a:rPr>
              <a:t>Kaynak: index.php rota tanımları</a:t>
            </a:r>
          </a:p>
        </p:txBody>
      </p:sp>
    </p:spTree>
    <p:extLst>
      <p:ext uri="{BB962C8B-B14F-4D97-AF65-F5344CB8AC3E}">
        <p14:creationId xmlns:p14="http://schemas.microsoft.com/office/powerpoint/2010/main" val="1908657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17F13C-B0E5-436A-A3A4-F14F9FBE2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55D703-0DAF-4AC7-AA93-11C56A97B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4-marker">
            <a:extLst xmlns:a="http://schemas.openxmlformats.org/drawingml/2006/main">
              <a:ext uri="{FF2B5EF4-FFF2-40B4-BE49-F238E27FC236}">
                <a16:creationId xmlns:a16="http://schemas.microsoft.com/office/drawing/2014/main" id="{28CE0C9E-4217-4417-A0A4-E8A78C78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4-label">
            <a:extLst xmlns:a="http://schemas.openxmlformats.org/drawingml/2006/main">
              <a:ext uri="{FF2B5EF4-FFF2-40B4-BE49-F238E27FC236}">
                <a16:creationId xmlns:a16="http://schemas.microsoft.com/office/drawing/2014/main" id="{BCCE3982-A91F-44ED-AED8-BF884CB15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7D4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7D4B"/>
                </a:solidFill>
                <a:latin typeface="Aptos"/>
                <a:ea typeface="Aptos"/>
                <a:cs typeface="Aptos"/>
              </a:rPr>
              <a:t>FORM MANTIĞI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C2DFC0-FD97-49BB-9F69-E1400D810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7810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3324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73324"/>
                </a:solidFill>
                <a:latin typeface="Aptos Display"/>
                <a:ea typeface="Aptos Display"/>
                <a:cs typeface="Aptos Display"/>
              </a:rPr>
              <a:t>Üç kayıt türü aynı deftere, farklı ayrıntı seviyeleriyle yazar.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555D9B-B7D9-4CA5-B3D3-40EDFE0FC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36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36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F2B301-7DF5-4F16-9A9A-B1FD09355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3143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DDEEDB"/>
          </a:solidFill>
          <a:ln xmlns:a="http://schemas.openxmlformats.org/drawingml/2006/main" w="19050">
            <a:solidFill>
              <a:srgbClr val="2F7D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B0B938-31EC-4331-90B6-6168CD5DC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43150"/>
            <a:ext cx="2647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32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3324"/>
                </a:solidFill>
                <a:latin typeface="Aptos"/>
                <a:ea typeface="Aptos"/>
                <a:cs typeface="Aptos"/>
              </a:rPr>
              <a:t>Hızlı Kayıt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CEC36B-85F7-4A1D-AC48-8F55AE0CA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914650"/>
            <a:ext cx="22669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8BB440-9016-4902-B622-CAB287DAA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71800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332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324"/>
                </a:solidFill>
                <a:latin typeface="Aptos"/>
                <a:ea typeface="Aptos"/>
                <a:cs typeface="Aptos"/>
              </a:rPr>
              <a:t>Tarla adı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2253ED-AAD4-440F-9942-128EEFD09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371850"/>
            <a:ext cx="22669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BF3AE0-EE63-41AE-844E-F33980257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29000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332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324"/>
                </a:solidFill>
                <a:latin typeface="Aptos"/>
                <a:ea typeface="Aptos"/>
                <a:cs typeface="Aptos"/>
              </a:rPr>
              <a:t>Lokasyon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B991A1-F4A4-4667-A7E0-7C6C75542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29050"/>
            <a:ext cx="22669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544388-E82D-47FC-9D25-918FC1367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86200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332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324"/>
                </a:solidFill>
                <a:latin typeface="Aptos"/>
                <a:ea typeface="Aptos"/>
                <a:cs typeface="Aptos"/>
              </a:rPr>
              <a:t>Alan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CFC286-6D2B-421E-ADCE-3266716EF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95500"/>
            <a:ext cx="3143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DDECF6"/>
          </a:solidFill>
          <a:ln xmlns:a="http://schemas.openxmlformats.org/drawingml/2006/main" w="19050">
            <a:solidFill>
              <a:srgbClr val="2F6F9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8B9633-C281-4244-9B90-417EF599B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343150"/>
            <a:ext cx="2647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32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3324"/>
                </a:solidFill>
                <a:latin typeface="Aptos"/>
                <a:ea typeface="Aptos"/>
                <a:cs typeface="Aptos"/>
              </a:rPr>
              <a:t>Normal Kayıt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A9F50F-3741-4DE7-AEE6-AFF3766D4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914650"/>
            <a:ext cx="22669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C590DA-5FED-419C-9528-D5473A858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971800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332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324"/>
                </a:solidFill>
                <a:latin typeface="Aptos"/>
                <a:ea typeface="Aptos"/>
                <a:cs typeface="Aptos"/>
              </a:rPr>
              <a:t>Tarla adı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3D5DC9-4064-499F-8DF7-CB1395A00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371850"/>
            <a:ext cx="22669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F10E5D-4641-4C25-A1D7-F13E5B0E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429000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332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324"/>
                </a:solidFill>
                <a:latin typeface="Aptos"/>
                <a:ea typeface="Aptos"/>
                <a:cs typeface="Aptos"/>
              </a:rPr>
              <a:t>Lokasyon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BA3E71-466F-420F-93C4-38578B3DD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829050"/>
            <a:ext cx="22669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AC1B45-992E-451E-B6DC-F7F95A0DB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886200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332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324"/>
                </a:solidFill>
                <a:latin typeface="Aptos"/>
                <a:ea typeface="Aptos"/>
                <a:cs typeface="Aptos"/>
              </a:rPr>
              <a:t>Alan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76ACDF-5F24-4A8A-B418-A1A8F1B68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286250"/>
            <a:ext cx="22669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22ECCA-1789-4986-BC84-8ED5BCA1E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343400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332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324"/>
                </a:solidFill>
                <a:latin typeface="Aptos"/>
                <a:ea typeface="Aptos"/>
                <a:cs typeface="Aptos"/>
              </a:rPr>
              <a:t>Ürün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A0651E-657A-469F-82F0-B27295EA2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0"/>
            <a:ext cx="3143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6E5CF"/>
          </a:solidFill>
          <a:ln xmlns:a="http://schemas.openxmlformats.org/drawingml/2006/main" w="19050">
            <a:solidFill>
              <a:srgbClr val="D8852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360163-59DC-4A64-BFFD-A96A13E18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43150"/>
            <a:ext cx="2647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32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3324"/>
                </a:solidFill>
                <a:latin typeface="Aptos"/>
                <a:ea typeface="Aptos"/>
                <a:cs typeface="Aptos"/>
              </a:rPr>
              <a:t>Detaylı Kayıt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DDE955-6589-4A6A-946F-F71B75FA9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14650"/>
            <a:ext cx="22669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C5DA45-2F3A-499B-AEA3-CDA6B3F3B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971800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332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324"/>
                </a:solidFill>
                <a:latin typeface="Aptos"/>
                <a:ea typeface="Aptos"/>
                <a:cs typeface="Aptos"/>
              </a:rPr>
              <a:t>Gübre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FCB9D8-B521-4102-8E76-8F91E7307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71850"/>
            <a:ext cx="22669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1023A6-4F23-4E77-B209-66B16E61C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429000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332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324"/>
                </a:solidFill>
                <a:latin typeface="Aptos"/>
                <a:ea typeface="Aptos"/>
                <a:cs typeface="Aptos"/>
              </a:rPr>
              <a:t>Mazot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3BE9D2-0433-422B-B37C-64B45F232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29050"/>
            <a:ext cx="22669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DB2169-0B62-4DFC-AB46-38288A9F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886200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332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324"/>
                </a:solidFill>
                <a:latin typeface="Aptos"/>
                <a:ea typeface="Aptos"/>
                <a:cs typeface="Aptos"/>
              </a:rPr>
              <a:t>Verim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F1B8E98-69DE-4364-B97D-738F568A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86250"/>
            <a:ext cx="22669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ADD4D0A-E90D-403B-BB12-89AD67DC1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343400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332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324"/>
                </a:solidFill>
                <a:latin typeface="Aptos"/>
                <a:ea typeface="Aptos"/>
                <a:cs typeface="Aptos"/>
              </a:rPr>
              <a:t>Satış fiyatı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A9C039A-03C9-47DD-98A7-2071978E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53100"/>
            <a:ext cx="9334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332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3324"/>
                </a:solidFill>
                <a:latin typeface="Aptos"/>
                <a:ea typeface="Aptos"/>
                <a:cs typeface="Aptos"/>
              </a:rPr>
              <a:t>Sunarken: “Az bilgiyle de kayıt açabiliriz; daha çok bilgi girersek uygulama bizim için hesap da yapabilir.”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9D35377-CB21-4FCE-9FA0-EDEEDA25A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36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36A"/>
                </a:solidFill>
                <a:latin typeface="Aptos"/>
                <a:ea typeface="Aptos"/>
                <a:cs typeface="Aptos"/>
              </a:rPr>
              <a:t>Kaynak: quick-create.php, normal-create.php, detailed-create.php</a:t>
            </a:r>
          </a:p>
        </p:txBody>
      </p:sp>
    </p:spTree>
    <p:extLst>
      <p:ext uri="{BB962C8B-B14F-4D97-AF65-F5344CB8AC3E}">
        <p14:creationId xmlns:p14="http://schemas.microsoft.com/office/powerpoint/2010/main" val="109358666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247863-F5EE-4DF0-A672-CBB3442A6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2B3FF1-0355-42D9-85F9-DF74F489B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5-marker">
            <a:extLst xmlns:a="http://schemas.openxmlformats.org/drawingml/2006/main">
              <a:ext uri="{FF2B5EF4-FFF2-40B4-BE49-F238E27FC236}">
                <a16:creationId xmlns:a16="http://schemas.microsoft.com/office/drawing/2014/main" id="{D49DCCD2-8792-4749-8A4C-DC4311115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DF2CF6D1-90C3-4274-A97F-AA51C71BE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7D4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7D4B"/>
                </a:solidFill>
                <a:latin typeface="Aptos"/>
                <a:ea typeface="Aptos"/>
                <a:cs typeface="Aptos"/>
              </a:rPr>
              <a:t>VERİTABANI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D32581-ED23-4ECD-8470-1717C86AA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7810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3324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73324"/>
                </a:solidFill>
                <a:latin typeface="Aptos Display"/>
                <a:ea typeface="Aptos Display"/>
                <a:cs typeface="Aptos Display"/>
              </a:rPr>
              <a:t>Bilgiler iki ana tabloyla saklanıyor: kullanıcılar ve tarlalar.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2066C2-A9FC-49AC-94F0-E02D8C25F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36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36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2e4dc94db14e17">
            <a:extLst>
              <a:ext uri="{96DAC541-7B7A-43D3-8B79-37D633B846F1}">
                <asvg:svgBlip xmlns:asvg="http://schemas.microsoft.com/office/drawing/2016/SVG/main" r:embed="Rf15388573faa4cf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562600" y="2038350"/>
            <a:ext cx="914400" cy="9144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CBB91E-5CF5-4A5E-8371-054BB2B9F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47900"/>
            <a:ext cx="34290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7D4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513D6A-D200-46F0-B744-DB38A0D47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1460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F7D4B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2F7D4B"/>
                </a:solidFill>
                <a:latin typeface="Aptos"/>
                <a:ea typeface="Aptos"/>
                <a:cs typeface="Aptos"/>
              </a:rPr>
              <a:t>users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D4D79E-AF47-4AC0-A1DB-E5055C988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90850"/>
            <a:ext cx="2286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7332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3324"/>
                </a:solidFill>
                <a:latin typeface="Aptos"/>
                <a:ea typeface="Aptos"/>
                <a:cs typeface="Aptos"/>
              </a:rPr>
              <a:t>id</a:t>
            </a:r>
          </a:p>
          <a:p xmlns:a="http://schemas.openxmlformats.org/drawingml/2006/main">
            <a:pPr algn="ctr">
              <a:defRPr sz="1575" b="0">
                <a:solidFill>
                  <a:srgbClr val="17332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3324"/>
                </a:solidFill>
                <a:latin typeface="Aptos"/>
                <a:ea typeface="Aptos"/>
                <a:cs typeface="Aptos"/>
              </a:rPr>
              <a:t>username</a:t>
            </a:r>
          </a:p>
          <a:p xmlns:a="http://schemas.openxmlformats.org/drawingml/2006/main">
            <a:pPr algn="ctr">
              <a:defRPr sz="1575" b="0">
                <a:solidFill>
                  <a:srgbClr val="17332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3324"/>
                </a:solidFill>
                <a:latin typeface="Aptos"/>
                <a:ea typeface="Aptos"/>
                <a:cs typeface="Aptos"/>
              </a:rPr>
              <a:t>email</a:t>
            </a:r>
          </a:p>
          <a:p xmlns:a="http://schemas.openxmlformats.org/drawingml/2006/main">
            <a:pPr algn="ctr">
              <a:defRPr sz="1575" b="0">
                <a:solidFill>
                  <a:srgbClr val="17332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3324"/>
                </a:solidFill>
                <a:latin typeface="Aptos"/>
                <a:ea typeface="Aptos"/>
                <a:cs typeface="Aptos"/>
              </a:rPr>
              <a:t>password</a:t>
            </a:r>
          </a:p>
          <a:p xmlns:a="http://schemas.openxmlformats.org/drawingml/2006/main">
            <a:pPr algn="ctr">
              <a:defRPr sz="1575" b="0">
                <a:solidFill>
                  <a:srgbClr val="17332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3324"/>
                </a:solidFill>
                <a:latin typeface="Aptos"/>
                <a:ea typeface="Aptos"/>
                <a:cs typeface="Aptos"/>
              </a:rPr>
              <a:t>created_at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578990-DD5D-4B64-9103-67E4A0DB6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943100"/>
            <a:ext cx="36195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852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31A7D4-B328-44D4-AEDF-3C4BED022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09800"/>
            <a:ext cx="3009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D8852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D8852A"/>
                </a:solidFill>
                <a:latin typeface="Aptos"/>
                <a:ea typeface="Aptos"/>
                <a:cs typeface="Aptos"/>
              </a:rPr>
              <a:t>fields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108A99-24F5-44C5-BAA6-A3E18AC83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95600"/>
            <a:ext cx="28956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332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3324"/>
                </a:solidFill>
                <a:latin typeface="Aptos"/>
                <a:ea typeface="Aptos"/>
                <a:cs typeface="Aptos"/>
              </a:rPr>
              <a:t>tarla_adi, lokasyon, alan</a:t>
            </a:r>
          </a:p>
          <a:p xmlns:a="http://schemas.openxmlformats.org/drawingml/2006/main">
            <a:pPr algn="ctr">
              <a:defRPr sz="1500" b="0">
                <a:solidFill>
                  <a:srgbClr val="17332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3324"/>
                </a:solidFill>
                <a:latin typeface="Aptos"/>
                <a:ea typeface="Aptos"/>
                <a:cs typeface="Aptos"/>
              </a:rPr>
              <a:t>urun, gubre, mazot</a:t>
            </a:r>
          </a:p>
          <a:p xmlns:a="http://schemas.openxmlformats.org/drawingml/2006/main">
            <a:pPr algn="ctr">
              <a:defRPr sz="1500" b="0">
                <a:solidFill>
                  <a:srgbClr val="17332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3324"/>
                </a:solidFill>
                <a:latin typeface="Aptos"/>
                <a:ea typeface="Aptos"/>
                <a:cs typeface="Aptos"/>
              </a:rPr>
              <a:t>verim, satis, tur</a:t>
            </a:r>
          </a:p>
          <a:p xmlns:a="http://schemas.openxmlformats.org/drawingml/2006/main">
            <a:pPr algn="ctr">
              <a:defRPr sz="1500" b="0">
                <a:solidFill>
                  <a:srgbClr val="17332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3324"/>
                </a:solidFill>
                <a:latin typeface="Aptos"/>
                <a:ea typeface="Aptos"/>
                <a:cs typeface="Aptos"/>
              </a:rPr>
              <a:t>user_id ile kullanıcıya bağlanır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FF177B-5858-4D06-BCCC-EEA05B38F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352800"/>
            <a:ext cx="1009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E178C5-C41B-4BB9-A082-CACE0B0C9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52800"/>
            <a:ext cx="1028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BCB71B-577E-444F-B5B6-62EF8D504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353050"/>
            <a:ext cx="4419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32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324"/>
                </a:solidFill>
                <a:latin typeface="Aptos"/>
                <a:ea typeface="Aptos"/>
                <a:cs typeface="Aptos"/>
              </a:rPr>
              <a:t>1 kullanıcı -&gt; birçok tarla kaydı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99D129-A1A7-4073-A89D-F34155380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36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36A"/>
                </a:solidFill>
                <a:latin typeface="Aptos"/>
                <a:ea typeface="Aptos"/>
                <a:cs typeface="Aptos"/>
              </a:rPr>
              <a:t>Kaynak: database/tarlam_takipte.sql</a:t>
            </a:r>
          </a:p>
        </p:txBody>
      </p:sp>
    </p:spTree>
    <p:extLst>
      <p:ext uri="{BB962C8B-B14F-4D97-AF65-F5344CB8AC3E}">
        <p14:creationId xmlns:p14="http://schemas.microsoft.com/office/powerpoint/2010/main" val="154600709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362F97-83D5-49E0-9EF5-4EA5D51F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82F108-CFE9-4751-BF50-99562EF38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6-marker">
            <a:extLst xmlns:a="http://schemas.openxmlformats.org/drawingml/2006/main">
              <a:ext uri="{FF2B5EF4-FFF2-40B4-BE49-F238E27FC236}">
                <a16:creationId xmlns:a16="http://schemas.microsoft.com/office/drawing/2014/main" id="{8ADADADE-3A0F-4D2E-BB50-B2C071E9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6-label">
            <a:extLst xmlns:a="http://schemas.openxmlformats.org/drawingml/2006/main">
              <a:ext uri="{FF2B5EF4-FFF2-40B4-BE49-F238E27FC236}">
                <a16:creationId xmlns:a16="http://schemas.microsoft.com/office/drawing/2014/main" id="{0E200C5A-FF89-4473-BBE7-188C48BA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7D4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7D4B"/>
                </a:solidFill>
                <a:latin typeface="Aptos"/>
                <a:ea typeface="Aptos"/>
                <a:cs typeface="Aptos"/>
              </a:rPr>
              <a:t>KOD HARİTASI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C2D595-FC0B-40F5-B370-DE0FA8BC5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7810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3324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73324"/>
                </a:solidFill>
                <a:latin typeface="Aptos Display"/>
                <a:ea typeface="Aptos Display"/>
                <a:cs typeface="Aptos Display"/>
              </a:rPr>
              <a:t>MVC yapısı kodu görevlerine göre ayırıyor.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8C5C7E-F396-4466-A180-D0E9FF59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36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36A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4EE854-B671-4292-96C1-3C1F28445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90800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7D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001FE1-0C26-4D2A-9010-DD87852A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00350"/>
            <a:ext cx="2438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7D4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F7D4B"/>
                </a:solidFill>
                <a:latin typeface="Aptos"/>
                <a:ea typeface="Aptos"/>
                <a:cs typeface="Aptos"/>
              </a:rPr>
              <a:t>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251BE4-3C7F-4795-AB87-74CC29635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57550"/>
            <a:ext cx="2400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332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3324"/>
                </a:solidFill>
                <a:latin typeface="Aptos"/>
                <a:ea typeface="Aptos"/>
                <a:cs typeface="Aptos"/>
              </a:rPr>
              <a:t>Ekranda görünen formlar ve tablolar.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B15198-43C2-4E92-93A5-096A9B3F5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76450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F9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2433E1-75B0-4957-8855-709DA3C71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286000"/>
            <a:ext cx="2438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6F9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F6F9F"/>
                </a:solidFill>
                <a:latin typeface="Aptos"/>
                <a:ea typeface="Aptos"/>
                <a:cs typeface="Aptos"/>
              </a:rPr>
              <a:t>Controller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2CE7D5-6B76-4862-B71F-37380EA9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43200"/>
            <a:ext cx="2400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332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3324"/>
                </a:solidFill>
                <a:latin typeface="Aptos"/>
                <a:ea typeface="Aptos"/>
                <a:cs typeface="Aptos"/>
              </a:rPr>
              <a:t>Butona basılınca hangi işlemin yapılacağını seçer.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4AD82A-CAD5-47A7-BA4C-F340F372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90800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852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1B3658-8256-475A-AA11-8C7B8EBD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00350"/>
            <a:ext cx="2438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885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8852A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B319A7-022E-4DE2-B720-A81DD12F1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257550"/>
            <a:ext cx="2400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332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3324"/>
                </a:solidFill>
                <a:latin typeface="Aptos"/>
                <a:ea typeface="Aptos"/>
                <a:cs typeface="Aptos"/>
              </a:rPr>
              <a:t>Veritabanına kayıt ekler, arar, günceller ve siler.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FE0271-DC24-4D61-B111-1690EDEA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276600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399ED2-783E-44B5-BAC1-0E5E29DF6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76600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C0D316-57F2-4112-99F8-C1FFB80DE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5300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7332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3324"/>
                </a:solidFill>
                <a:latin typeface="Aptos"/>
                <a:ea typeface="Aptos"/>
                <a:cs typeface="Aptos"/>
              </a:rPr>
              <a:t>Örnek: Formdaki bilgiler önce PageController'a gelir, sonra Field modeli üzerinden fields tablosuna yazılır.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2A1CA6-FCCD-4C54-B591-86E9DE633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36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36A"/>
                </a:solidFill>
                <a:latin typeface="Aptos"/>
                <a:ea typeface="Aptos"/>
                <a:cs typeface="Aptos"/>
              </a:rPr>
              <a:t>Kaynak: app/Controllers/PageController.php, app/Models/Field.php, app/Views/*.php</a:t>
            </a:r>
          </a:p>
        </p:txBody>
      </p:sp>
    </p:spTree>
    <p:extLst>
      <p:ext uri="{BB962C8B-B14F-4D97-AF65-F5344CB8AC3E}">
        <p14:creationId xmlns:p14="http://schemas.microsoft.com/office/powerpoint/2010/main" val="177353034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5F9CCE-09A2-48FB-8814-93E031A9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4C70A6-7AD2-4181-85C9-4551DF5BF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7-marker">
            <a:extLst xmlns:a="http://schemas.openxmlformats.org/drawingml/2006/main">
              <a:ext uri="{FF2B5EF4-FFF2-40B4-BE49-F238E27FC236}">
                <a16:creationId xmlns:a16="http://schemas.microsoft.com/office/drawing/2014/main" id="{0E8CECF4-B010-4C15-A729-6D20B95FB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7-label">
            <a:extLst xmlns:a="http://schemas.openxmlformats.org/drawingml/2006/main">
              <a:ext uri="{FF2B5EF4-FFF2-40B4-BE49-F238E27FC236}">
                <a16:creationId xmlns:a16="http://schemas.microsoft.com/office/drawing/2014/main" id="{AA902374-D15D-4355-A658-5FB420EDF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7D4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7D4B"/>
                </a:solidFill>
                <a:latin typeface="Aptos"/>
                <a:ea typeface="Aptos"/>
                <a:cs typeface="Aptos"/>
              </a:rPr>
              <a:t>HESAPLAMA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A23A5A-0904-483D-869B-A13EA4719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7810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3324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73324"/>
                </a:solidFill>
                <a:latin typeface="Aptos Display"/>
                <a:ea typeface="Aptos Display"/>
                <a:cs typeface="Aptos Display"/>
              </a:rPr>
              <a:t>Detaylı kayıt, küçük bir hesap makinesi gibi çalışıyor.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F0131F-3FEE-40F3-B2F2-D33107078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36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36A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df42816ebc482b">
            <a:extLst>
              <a:ext uri="{96DAC541-7B7A-43D3-8B79-37D633B846F1}">
                <asvg:svgBlip xmlns:asvg="http://schemas.microsoft.com/office/drawing/2016/SVG/main" r:embed="Rc1f84d0831884ca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944100" y="838200"/>
            <a:ext cx="723900" cy="7239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1A9724-CF4C-4F7A-A2C7-000784376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71700"/>
            <a:ext cx="2476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F7D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EEDF84-35DA-4E34-814A-6C2E602A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62200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Gelir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F55B3E-FE3C-4026-A6AE-21E2127BD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71700"/>
            <a:ext cx="6667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4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A6F473-8E59-4385-A741-62AC7ADAE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71725"/>
            <a:ext cx="609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7332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3324"/>
                </a:solidFill>
                <a:latin typeface="Aptos"/>
                <a:ea typeface="Aptos"/>
                <a:cs typeface="Aptos"/>
              </a:rPr>
              <a:t>verim x satış fiyatı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C50474-87C0-424A-BE5F-8163002C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95650"/>
            <a:ext cx="2476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B64B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DCAD15-34A8-4CFC-B778-33805ECC2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86150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Gider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5DB904-5A34-48B6-89EE-922B0AA47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95650"/>
            <a:ext cx="6667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4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AF20BB-E28B-4AA0-BF9D-89EC6FEE1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95675"/>
            <a:ext cx="609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7332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3324"/>
                </a:solidFill>
                <a:latin typeface="Aptos"/>
                <a:ea typeface="Aptos"/>
                <a:cs typeface="Aptos"/>
              </a:rPr>
              <a:t>(gübre x gübre fiyatı) + (mazot x mazot fiyatı)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86802E-201B-4ABC-B110-47E841460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19600"/>
            <a:ext cx="2476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F6F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1DD352-EE82-4841-BA03-F655AD679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10100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Kâr / Zarar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770AD2-6F69-49B3-B3EC-A189E1815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19600"/>
            <a:ext cx="6667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4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95F734-234E-4022-AE52-50FDD8AF3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19625"/>
            <a:ext cx="609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7332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3324"/>
                </a:solidFill>
                <a:latin typeface="Aptos"/>
                <a:ea typeface="Aptos"/>
                <a:cs typeface="Aptos"/>
              </a:rPr>
              <a:t>gelir - gider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4EAD4B-F086-45A7-BBB6-BFDF0259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734050"/>
            <a:ext cx="885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332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3324"/>
                </a:solidFill>
                <a:latin typeface="Aptos"/>
                <a:ea typeface="Aptos"/>
                <a:cs typeface="Aptos"/>
              </a:rPr>
              <a:t>Sunarken: “Kod burada matematik kuralını hiç unutmadan her kayıt için aynı şekilde uygular.”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A843CB-538E-4FE7-8868-61B3FD0DB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36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36A"/>
                </a:solidFill>
                <a:latin typeface="Aptos"/>
                <a:ea typeface="Aptos"/>
                <a:cs typeface="Aptos"/>
              </a:rPr>
              <a:t>Kaynak: PageController.php ve fields.php gelir/gider/kâr hesapları</a:t>
            </a:r>
          </a:p>
        </p:txBody>
      </p:sp>
    </p:spTree>
    <p:extLst>
      <p:ext uri="{BB962C8B-B14F-4D97-AF65-F5344CB8AC3E}">
        <p14:creationId xmlns:p14="http://schemas.microsoft.com/office/powerpoint/2010/main" val="163786947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D2AB73-486F-4520-81F1-9FD6EC148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D2759D-C153-4353-8A2B-38271D0BB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8-marker">
            <a:extLst xmlns:a="http://schemas.openxmlformats.org/drawingml/2006/main">
              <a:ext uri="{FF2B5EF4-FFF2-40B4-BE49-F238E27FC236}">
                <a16:creationId xmlns:a16="http://schemas.microsoft.com/office/drawing/2014/main" id="{0B5E53FC-B0D2-449B-8B1B-B66D25538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8-label">
            <a:extLst xmlns:a="http://schemas.openxmlformats.org/drawingml/2006/main">
              <a:ext uri="{FF2B5EF4-FFF2-40B4-BE49-F238E27FC236}">
                <a16:creationId xmlns:a16="http://schemas.microsoft.com/office/drawing/2014/main" id="{290492E4-270B-44C5-BDF3-998EB2A6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7D4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7D4B"/>
                </a:solidFill>
                <a:latin typeface="Aptos"/>
                <a:ea typeface="Aptos"/>
                <a:cs typeface="Aptos"/>
              </a:rPr>
              <a:t>ÇIKTI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74F4E5-6242-42F5-A224-A14A6CC9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7810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3324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73324"/>
                </a:solidFill>
                <a:latin typeface="Aptos Display"/>
                <a:ea typeface="Aptos Display"/>
                <a:cs typeface="Aptos Display"/>
              </a:rPr>
              <a:t>PDF raporu, kayıt bilgisini paylaşılabilir bir belgeye dönüştürüyor.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27DC0-E8B0-46EF-BB53-9117930D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36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36A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5b31eafa6e473f">
            <a:extLst>
              <a:ext uri="{96DAC541-7B7A-43D3-8B79-37D633B846F1}">
                <asvg:svgBlip xmlns:asvg="http://schemas.microsoft.com/office/drawing/2016/SVG/main" r:embed="R7ee7c83f16124f0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04900" y="2209800"/>
            <a:ext cx="952500" cy="952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EFFC16-0B11-4E4F-BE0C-FBB738BF5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000250"/>
            <a:ext cx="695325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8D4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E94DDD-8BA1-4E01-BB0D-718D674F9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362200"/>
            <a:ext cx="6076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F7D4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F7D4B"/>
                </a:solidFill>
                <a:latin typeface="Aptos"/>
                <a:ea typeface="Aptos"/>
                <a:cs typeface="Aptos"/>
              </a:rPr>
              <a:t>Tarlam Takipte - Tarla Raporu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425D50-4849-44FE-9AD1-BC8AFF51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028950"/>
            <a:ext cx="5334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7DBCE3-95AF-4840-B668-70DB22EF3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57550"/>
            <a:ext cx="4953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332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3324"/>
                </a:solidFill>
                <a:latin typeface="Aptos"/>
                <a:ea typeface="Aptos"/>
                <a:cs typeface="Aptos"/>
              </a:rPr>
              <a:t>Tarla adı  |  Lokasyon  |  Ürün  |  Alan</a:t>
            </a:r>
          </a:p>
          <a:p xmlns:a="http://schemas.openxmlformats.org/drawingml/2006/main">
            <a:pPr algn="ctr">
              <a:defRPr sz="1650" b="0">
                <a:solidFill>
                  <a:srgbClr val="17332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3324"/>
                </a:solidFill>
                <a:latin typeface="Aptos"/>
                <a:ea typeface="Aptos"/>
                <a:cs typeface="Aptos"/>
              </a:rPr>
              <a:t>Gelir  |  Gider  |  Kâr / Zarar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536661-EC0E-4A3B-9A7D-C423AC4F0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495800"/>
            <a:ext cx="1200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067086-4849-40F5-8893-EB9260682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686300"/>
            <a:ext cx="1200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4B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8C00B4-EE25-42F6-9DA1-A4BD39B0B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43400"/>
            <a:ext cx="12001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023094-5D80-4627-8D93-1A0D3F1D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81650"/>
            <a:ext cx="1009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7332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3324"/>
                </a:solidFill>
                <a:latin typeface="Aptos"/>
                <a:ea typeface="Aptos"/>
                <a:cs typeface="Aptos"/>
              </a:rPr>
              <a:t>Rapor ekran görüntüsü değil; kod tarafından oluşturulan gerçek bir PDF dosyasıdır.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A22AE4-E623-40C4-A336-1B43264D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36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36A"/>
                </a:solidFill>
                <a:latin typeface="Aptos"/>
                <a:ea typeface="Aptos"/>
                <a:cs typeface="Aptos"/>
              </a:rPr>
              <a:t>Kaynak: PageController.php fieldsPdf() ve app/Core/SimplePdf.php</a:t>
            </a:r>
          </a:p>
        </p:txBody>
      </p:sp>
    </p:spTree>
    <p:extLst>
      <p:ext uri="{BB962C8B-B14F-4D97-AF65-F5344CB8AC3E}">
        <p14:creationId xmlns:p14="http://schemas.microsoft.com/office/powerpoint/2010/main" val="141693688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0E7DB9-351F-4769-947B-25342550D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F1D757-DA72-431B-B96B-E6CD7EED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9-marker">
            <a:extLst xmlns:a="http://schemas.openxmlformats.org/drawingml/2006/main">
              <a:ext uri="{FF2B5EF4-FFF2-40B4-BE49-F238E27FC236}">
                <a16:creationId xmlns:a16="http://schemas.microsoft.com/office/drawing/2014/main" id="{EA1AACEC-251D-4655-9E0C-277B27914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9-label">
            <a:extLst xmlns:a="http://schemas.openxmlformats.org/drawingml/2006/main">
              <a:ext uri="{FF2B5EF4-FFF2-40B4-BE49-F238E27FC236}">
                <a16:creationId xmlns:a16="http://schemas.microsoft.com/office/drawing/2014/main" id="{0C35959C-0A7C-4224-9871-3EA9BD07A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7D4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7D4B"/>
                </a:solidFill>
                <a:latin typeface="Aptos"/>
                <a:ea typeface="Aptos"/>
                <a:cs typeface="Aptos"/>
              </a:rPr>
              <a:t>KAPANIŞ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5C26BB-07A2-4A2A-865B-61D76F2E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7810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3324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73324"/>
                </a:solidFill>
                <a:latin typeface="Aptos Display"/>
                <a:ea typeface="Aptos Display"/>
                <a:cs typeface="Aptos Display"/>
              </a:rPr>
              <a:t>Bu proje bize web uygulamasının üç temel işini gösteriyor.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8C5ACD-AAF9-4CBA-AA4A-26AF81311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36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36A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FA5298-AEEB-4593-A018-324AD865A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4315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0D30C8-FA2D-4B07-AED8-6A9F51D2E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14650"/>
            <a:ext cx="1543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37B4AF-14B7-4B0B-AF56-CE4079F61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48050"/>
            <a:ext cx="1581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Kullanıcıdan bilgi alır.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8652D9-3F7F-448D-AC16-32CA0138B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34315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0CA083-93B5-47D3-B1A3-CDDDC2F4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914650"/>
            <a:ext cx="1543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Sakla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0D5226-D1E1-4A5A-ABAE-DDAC57283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448050"/>
            <a:ext cx="1581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Bilgiyi veritabanında tutar.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C27F28-871C-4907-B0B6-8DAD3DBE0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4315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85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2106C9-8FFB-422A-B1E6-462779F0B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14650"/>
            <a:ext cx="1543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Hesapla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1820C1-3FFF-4A32-ADF0-EEFAFF445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448050"/>
            <a:ext cx="1581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Gelir, gider ve kârı çıkarır.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F0100E-1FE4-48FE-B25A-4647D2873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4315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4B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761842-95D2-4C2C-BC4E-22F3DE3BC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914650"/>
            <a:ext cx="1543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Paylaş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962B4B-11B2-4DA3-9DF4-D1DAE497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448050"/>
            <a:ext cx="1581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PDF raporu üretir.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646600-BBE4-4BFE-A3F3-2466D181A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257800"/>
            <a:ext cx="9486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32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3324"/>
                </a:solidFill>
                <a:latin typeface="Aptos"/>
                <a:ea typeface="Aptos"/>
                <a:cs typeface="Aptos"/>
              </a:rPr>
              <a:t>Demo sorusu: “Bir tarla kaydı eklediğimizde hangi dosyalar sırayla çalışır?”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BFD1DC-19E1-4C3F-83C8-E9EAC3063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791200"/>
            <a:ext cx="5981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6736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6736A"/>
                </a:solidFill>
                <a:latin typeface="Aptos"/>
                <a:ea typeface="Aptos"/>
                <a:cs typeface="Aptos"/>
              </a:rPr>
              <a:t>Cevap ipucu: View -&gt; Controller -&gt; Model -&gt; Database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AEA009-B6F5-43E7-8CFB-40285D3B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36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36A"/>
                </a:solidFill>
                <a:latin typeface="Aptos"/>
                <a:ea typeface="Aptos"/>
                <a:cs typeface="Aptos"/>
              </a:rPr>
              <a:t>Kaynak: Proje kodları - Tarlam Takipte</a:t>
            </a:r>
          </a:p>
        </p:txBody>
      </p:sp>
    </p:spTree>
    <p:extLst>
      <p:ext uri="{BB962C8B-B14F-4D97-AF65-F5344CB8AC3E}">
        <p14:creationId xmlns:p14="http://schemas.microsoft.com/office/powerpoint/2010/main" val="9794258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2026-06-22T05:21:32.9630000Z</dcterms:created>
  <dcterms:modified xsi:type="dcterms:W3CDTF">2026-06-22T05:21:32.9640000Z</dcterms:modified>
</coreProperties>
</file>